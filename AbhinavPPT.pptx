
<file path=[Content_Types].xml><?xml version="1.0" encoding="utf-8"?>
<Types xmlns="http://schemas.openxmlformats.org/package/2006/content-types">
  <Default Extension="bin" ContentType="image/unknown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3"/>
  </p:notesMasterIdLst>
  <p:sldIdLst>
    <p:sldId id="256" r:id="rId2"/>
    <p:sldId id="264" r:id="rId3"/>
    <p:sldId id="265" r:id="rId4"/>
    <p:sldId id="266" r:id="rId5"/>
    <p:sldId id="267" r:id="rId6"/>
    <p:sldId id="268" r:id="rId7"/>
    <p:sldId id="269" r:id="rId8"/>
    <p:sldId id="270" r:id="rId9"/>
    <p:sldId id="263" r:id="rId10"/>
    <p:sldId id="261" r:id="rId11"/>
    <p:sldId id="262" r:id="rId12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82" d="100"/>
          <a:sy n="82" d="100"/>
        </p:scale>
        <p:origin x="691" y="9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notesMaster" Target="notesMasters/notesMaster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viewProps" Target="view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20541519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11.png"/><Relationship Id="rId4" Type="http://schemas.openxmlformats.org/officeDocument/2006/relationships/image" Target="../media/image10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Relationship Id="rId6" Type="http://schemas.openxmlformats.org/officeDocument/2006/relationships/hyperlink" Target="https://ar.inspiredpencil.com/pictures-2023/animated-any-questions-images" TargetMode="External"/><Relationship Id="rId5" Type="http://schemas.openxmlformats.org/officeDocument/2006/relationships/image" Target="../media/image13.bin"/><Relationship Id="rId4" Type="http://schemas.openxmlformats.org/officeDocument/2006/relationships/hyperlink" Target="https://utpaqp.edu.pe/post/thank-you-colouring-pages-colouring-pages-coloring-pages-coloring/thank-you-card-drawing" TargetMode="Externa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F2A4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2286000"/>
            <a:ext cx="1069848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4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                 Sales Dashboard</a:t>
            </a:r>
            <a:endParaRPr lang="en-US" sz="4400" dirty="0"/>
          </a:p>
        </p:txBody>
      </p:sp>
      <p:sp>
        <p:nvSpPr>
          <p:cNvPr id="3" name="Text 1"/>
          <p:cNvSpPr/>
          <p:nvPr/>
        </p:nvSpPr>
        <p:spPr>
          <a:xfrm>
            <a:off x="731520" y="3291840"/>
            <a:ext cx="106984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000" dirty="0">
                <a:solidFill>
                  <a:srgbClr val="1B8A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                                       PivotTable Source &amp; Structure Walkthrough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8889402" y="5974976"/>
            <a:ext cx="6278880" cy="74855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i="1" dirty="0">
                <a:solidFill>
                  <a:srgbClr val="AEB8C7"/>
                </a:solidFill>
                <a:latin typeface="Yatra_One"/>
                <a:cs typeface="Arial" pitchFamily="34" charset="-120"/>
              </a:rPr>
              <a:t>Project By Abhinav Shirke</a:t>
            </a:r>
            <a:endParaRPr lang="en-US" sz="1600" b="1" dirty="0">
              <a:latin typeface="Yatra_One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869C9D0F-27BD-4D7C-AA75-712CFC61F27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13330"/>
            <a:ext cx="12192000" cy="683134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1161614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3369F233-F4A6-4C0A-81E9-6EB3B38C631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20450"/>
            <a:ext cx="12192000" cy="68171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5711267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C4BD4126-77E0-4A97-A0B5-C12D695ED8D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485" y="0"/>
            <a:ext cx="1212703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91773227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40CCD03C-B715-4E5C-B6D4-1B691377A23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17273"/>
            <a:ext cx="12192000" cy="682345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9941223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82105E51-4782-4F4F-B49C-7839300F372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1390"/>
            <a:ext cx="12192000" cy="685522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018203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347BCBA5-850A-4EA6-A36B-84FA2877F9C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211049"/>
            <a:ext cx="12192000" cy="643590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40054064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EF6F4C14-E8AB-402F-ACEE-EBA17532ABF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1390"/>
            <a:ext cx="12192000" cy="685522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51627641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3ABE3BBA-15E3-4D48-9E1B-E429A4005EE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3400" y="1210236"/>
            <a:ext cx="11065199" cy="5118846"/>
          </a:xfrm>
          <a:prstGeom prst="rect">
            <a:avLst/>
          </a:prstGeom>
        </p:spPr>
      </p:pic>
      <p:sp>
        <p:nvSpPr>
          <p:cNvPr id="4" name="Text 0">
            <a:extLst>
              <a:ext uri="{FF2B5EF4-FFF2-40B4-BE49-F238E27FC236}">
                <a16:creationId xmlns:a16="http://schemas.microsoft.com/office/drawing/2014/main" id="{184AE6D9-1988-42A3-8CE8-E44AF7102C01}"/>
              </a:ext>
            </a:extLst>
          </p:cNvPr>
          <p:cNvSpPr/>
          <p:nvPr/>
        </p:nvSpPr>
        <p:spPr>
          <a:xfrm>
            <a:off x="3609191" y="304801"/>
            <a:ext cx="5274833" cy="815787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5400" b="1" dirty="0">
                <a:latin typeface="Arial" pitchFamily="34" charset="0"/>
                <a:ea typeface="Arial" pitchFamily="34" charset="-122"/>
                <a:cs typeface="Arial" pitchFamily="34" charset="-120"/>
              </a:rPr>
              <a:t>Dashboard</a:t>
            </a:r>
            <a:endParaRPr lang="en-US" sz="5400" dirty="0"/>
          </a:p>
        </p:txBody>
      </p:sp>
    </p:spTree>
    <p:extLst>
      <p:ext uri="{BB962C8B-B14F-4D97-AF65-F5344CB8AC3E}">
        <p14:creationId xmlns:p14="http://schemas.microsoft.com/office/powerpoint/2010/main" val="1665816594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09728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1F2A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Pivot Table Screenshots — All 3 Views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548640" y="86868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Same Data!A1:H367 source, sliced with the Date / Item / Region slicers.</a:t>
            </a:r>
            <a:endParaRPr lang="en-US" sz="1250" dirty="0"/>
          </a:p>
        </p:txBody>
      </p:sp>
      <p:sp>
        <p:nvSpPr>
          <p:cNvPr id="4" name="Shape 2"/>
          <p:cNvSpPr/>
          <p:nvPr/>
        </p:nvSpPr>
        <p:spPr>
          <a:xfrm>
            <a:off x="457200" y="1371600"/>
            <a:ext cx="6949440" cy="3246120"/>
          </a:xfrm>
          <a:prstGeom prst="roundRect">
            <a:avLst>
              <a:gd name="adj" fmla="val 1408"/>
            </a:avLst>
          </a:prstGeom>
          <a:solidFill>
            <a:srgbClr val="F4F6F8"/>
          </a:solidFill>
          <a:ln/>
        </p:spPr>
      </p:sp>
      <p:pic>
        <p:nvPicPr>
          <p:cNvPr id="5" name="Image 0" descr="/home/claude/src1.png"/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594360" y="1463040"/>
            <a:ext cx="6675120" cy="306324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7543800" y="1371600"/>
            <a:ext cx="4160520" cy="1554480"/>
          </a:xfrm>
          <a:prstGeom prst="roundRect">
            <a:avLst>
              <a:gd name="adj" fmla="val 2941"/>
            </a:avLst>
          </a:prstGeom>
          <a:solidFill>
            <a:srgbClr val="F4F6F8"/>
          </a:solidFill>
          <a:ln/>
        </p:spPr>
      </p:sp>
      <p:pic>
        <p:nvPicPr>
          <p:cNvPr id="7" name="Image 1" descr="/home/claude/src2.png"/>
          <p:cNvPicPr>
            <a:picLocks noChangeAspect="1"/>
          </p:cNvPicPr>
          <p:nvPr/>
        </p:nvPicPr>
        <p:blipFill>
          <a:blip r:embed="rId4"/>
          <a:srcRect/>
          <a:stretch/>
        </p:blipFill>
        <p:spPr>
          <a:xfrm>
            <a:off x="7635240" y="1444752"/>
            <a:ext cx="3977640" cy="1408176"/>
          </a:xfrm>
          <a:prstGeom prst="rect">
            <a:avLst/>
          </a:prstGeom>
        </p:spPr>
      </p:pic>
      <p:sp>
        <p:nvSpPr>
          <p:cNvPr id="8" name="Shape 4"/>
          <p:cNvSpPr/>
          <p:nvPr/>
        </p:nvSpPr>
        <p:spPr>
          <a:xfrm>
            <a:off x="7543800" y="3063240"/>
            <a:ext cx="4160520" cy="1554480"/>
          </a:xfrm>
          <a:prstGeom prst="roundRect">
            <a:avLst>
              <a:gd name="adj" fmla="val 2941"/>
            </a:avLst>
          </a:prstGeom>
          <a:solidFill>
            <a:srgbClr val="F4F6F8"/>
          </a:solidFill>
          <a:ln/>
        </p:spPr>
      </p:sp>
      <p:pic>
        <p:nvPicPr>
          <p:cNvPr id="9" name="Image 2" descr="/home/claude/src3.png"/>
          <p:cNvPicPr>
            <a:picLocks noChangeAspect="1"/>
          </p:cNvPicPr>
          <p:nvPr/>
        </p:nvPicPr>
        <p:blipFill>
          <a:blip r:embed="rId5"/>
          <a:srcRect/>
          <a:stretch/>
        </p:blipFill>
        <p:spPr>
          <a:xfrm>
            <a:off x="7635240" y="3136392"/>
            <a:ext cx="3977640" cy="1408176"/>
          </a:xfrm>
          <a:prstGeom prst="rect">
            <a:avLst/>
          </a:prstGeom>
        </p:spPr>
      </p:pic>
      <p:sp>
        <p:nvSpPr>
          <p:cNvPr id="10" name="Shape 5"/>
          <p:cNvSpPr/>
          <p:nvPr/>
        </p:nvSpPr>
        <p:spPr>
          <a:xfrm>
            <a:off x="457200" y="1371600"/>
            <a:ext cx="292608" cy="292608"/>
          </a:xfrm>
          <a:prstGeom prst="ellipse">
            <a:avLst/>
          </a:prstGeom>
          <a:solidFill>
            <a:srgbClr val="1B8A8A"/>
          </a:solidFill>
          <a:ln/>
        </p:spPr>
      </p:sp>
      <p:sp>
        <p:nvSpPr>
          <p:cNvPr id="11" name="Text 6"/>
          <p:cNvSpPr/>
          <p:nvPr/>
        </p:nvSpPr>
        <p:spPr>
          <a:xfrm>
            <a:off x="457200" y="1371600"/>
            <a:ext cx="29260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200" dirty="0"/>
          </a:p>
        </p:txBody>
      </p:sp>
      <p:sp>
        <p:nvSpPr>
          <p:cNvPr id="12" name="Shape 7"/>
          <p:cNvSpPr/>
          <p:nvPr/>
        </p:nvSpPr>
        <p:spPr>
          <a:xfrm>
            <a:off x="7543800" y="1371600"/>
            <a:ext cx="292608" cy="292608"/>
          </a:xfrm>
          <a:prstGeom prst="ellipse">
            <a:avLst/>
          </a:prstGeom>
          <a:solidFill>
            <a:srgbClr val="1B8A8A"/>
          </a:solidFill>
          <a:ln/>
        </p:spPr>
      </p:sp>
      <p:sp>
        <p:nvSpPr>
          <p:cNvPr id="13" name="Text 8"/>
          <p:cNvSpPr/>
          <p:nvPr/>
        </p:nvSpPr>
        <p:spPr>
          <a:xfrm>
            <a:off x="7543800" y="1371600"/>
            <a:ext cx="29260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200" dirty="0"/>
          </a:p>
        </p:txBody>
      </p:sp>
      <p:sp>
        <p:nvSpPr>
          <p:cNvPr id="14" name="Shape 9"/>
          <p:cNvSpPr/>
          <p:nvPr/>
        </p:nvSpPr>
        <p:spPr>
          <a:xfrm>
            <a:off x="7543800" y="3063240"/>
            <a:ext cx="292608" cy="292608"/>
          </a:xfrm>
          <a:prstGeom prst="ellipse">
            <a:avLst/>
          </a:prstGeom>
          <a:solidFill>
            <a:srgbClr val="1B8A8A"/>
          </a:solidFill>
          <a:ln/>
        </p:spPr>
      </p:sp>
      <p:sp>
        <p:nvSpPr>
          <p:cNvPr id="15" name="Text 10"/>
          <p:cNvSpPr/>
          <p:nvPr/>
        </p:nvSpPr>
        <p:spPr>
          <a:xfrm>
            <a:off x="7543800" y="3063240"/>
            <a:ext cx="29260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200" dirty="0"/>
          </a:p>
        </p:txBody>
      </p:sp>
      <p:sp>
        <p:nvSpPr>
          <p:cNvPr id="16" name="Text 11"/>
          <p:cNvSpPr/>
          <p:nvPr/>
        </p:nvSpPr>
        <p:spPr>
          <a:xfrm>
            <a:off x="548640" y="4754880"/>
            <a:ext cx="11064240" cy="1737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228600" indent="-228600">
              <a:lnSpc>
                <a:spcPts val="2000"/>
              </a:lnSpc>
              <a:buAutoNum type="arabicPlain"/>
            </a:pPr>
            <a:r>
              <a:rPr lang="en-US" sz="120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Salesman × Region (East/South), Sum of Price, with Date/Item/Region slicers — donut chart alongside.   </a:t>
            </a:r>
          </a:p>
          <a:p>
            <a:pPr marL="228600" indent="-228600">
              <a:lnSpc>
                <a:spcPts val="2000"/>
              </a:lnSpc>
              <a:buAutoNum type="arabicPlain"/>
            </a:pPr>
            <a:r>
              <a:rPr lang="en-US" sz="120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Region-level Sum of Amount (East 1,38,300 · South 31,200) with a 3D column chart.   </a:t>
            </a:r>
            <a:endParaRPr lang="en-US" sz="1200" b="1" dirty="0">
              <a:solidFill>
                <a:srgbClr val="1B8A8A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  <a:p>
            <a:pPr marL="228600" indent="-228600">
              <a:lnSpc>
                <a:spcPts val="2000"/>
              </a:lnSpc>
              <a:buAutoNum type="arabicPlain"/>
            </a:pPr>
            <a:r>
              <a:rPr lang="en-US" sz="120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Same regions broken down by Qty &amp; Amount per salesman, with a horizontal bar chart.</a:t>
            </a:r>
            <a:endParaRPr lang="en-US" sz="1200" dirty="0"/>
          </a:p>
        </p:txBody>
      </p:sp>
      <p:sp>
        <p:nvSpPr>
          <p:cNvPr id="17" name="Text 12"/>
          <p:cNvSpPr/>
          <p:nvPr/>
        </p:nvSpPr>
        <p:spPr>
          <a:xfrm>
            <a:off x="548640" y="6172200"/>
            <a:ext cx="1106424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100" b="1" dirty="0">
                <a:solidFill>
                  <a:srgbClr val="E87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▸ </a:t>
            </a:r>
            <a:r>
              <a:rPr lang="en-US" sz="110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All three are just different Rows/Values choices on the same pivot cache — that's why East + South always foots to the same Grand Total (30,900 / 1,69,500) across views.</a:t>
            </a:r>
            <a:endParaRPr lang="en-US" sz="11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09191" y="995083"/>
            <a:ext cx="5274833" cy="1873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sz="6600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720E7DB9-B2A7-436B-AD9A-93B2FF6398E8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837473B0-CC2E-450A-ABE3-18F120FF3D39}">
                <a1611:picAttrSrcUrl xmlns:a1611="http://schemas.microsoft.com/office/drawing/2016/11/main" r:id="rId4"/>
              </a:ext>
            </a:extLst>
          </a:blip>
          <a:stretch>
            <a:fillRect/>
          </a:stretch>
        </p:blipFill>
        <p:spPr>
          <a:xfrm>
            <a:off x="3609191" y="-499782"/>
            <a:ext cx="4863353" cy="4863353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F939F997-D97A-481E-B45C-D8B21E4A8D03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837473B0-CC2E-450A-ABE3-18F120FF3D39}">
                <a1611:picAttrSrcUrl xmlns:a1611="http://schemas.microsoft.com/office/drawing/2016/11/main" r:id="rId6"/>
              </a:ext>
            </a:extLst>
          </a:blip>
          <a:stretch>
            <a:fillRect/>
          </a:stretch>
        </p:blipFill>
        <p:spPr>
          <a:xfrm>
            <a:off x="3142263" y="3429000"/>
            <a:ext cx="6385798" cy="3288069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26</TotalTime>
  <Words>139</Words>
  <Application>Microsoft Office PowerPoint</Application>
  <PresentationFormat>Widescreen</PresentationFormat>
  <Paragraphs>16</Paragraphs>
  <Slides>11</Slides>
  <Notes>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4" baseType="lpstr">
      <vt:lpstr>Arial</vt:lpstr>
      <vt:lpstr>Yatra_One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Abhinav Shirke</cp:lastModifiedBy>
  <cp:revision>6</cp:revision>
  <dcterms:created xsi:type="dcterms:W3CDTF">2026-08-08T07:14:55Z</dcterms:created>
  <dcterms:modified xsi:type="dcterms:W3CDTF">2026-10-07T10:21:53Z</dcterms:modified>
</cp:coreProperties>
</file>